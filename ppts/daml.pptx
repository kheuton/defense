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82" r:id="rId2"/>
    <p:sldId id="283" r:id="rId3"/>
    <p:sldId id="284" r:id="rId4"/>
    <p:sldId id="285" r:id="rId5"/>
    <p:sldId id="286" r:id="rId6"/>
    <p:sldId id="287" r:id="rId7"/>
    <p:sldId id="288" r:id="rId8"/>
    <p:sldId id="289" r:id="rId9"/>
    <p:sldId id="29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64" d="100"/>
          <a:sy n="64" d="100"/>
        </p:scale>
        <p:origin x="104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63C27B-8976-4DE7-B264-B623E0DC0149}" type="datetimeFigureOut">
              <a:rPr lang="en-US" smtClean="0"/>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91F46A-F476-424A-B58D-ED56CCFE3BD6}" type="slidenum">
              <a:rPr lang="en-US" smtClean="0"/>
              <a:t>‹#›</a:t>
            </a:fld>
            <a:endParaRPr lang="en-US"/>
          </a:p>
        </p:txBody>
      </p:sp>
    </p:spTree>
    <p:extLst>
      <p:ext uri="{BB962C8B-B14F-4D97-AF65-F5344CB8AC3E}">
        <p14:creationId xmlns:p14="http://schemas.microsoft.com/office/powerpoint/2010/main" val="3660733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643501de88_0_2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643501de88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81000" marR="381000" lvl="0" indent="0" algn="l" rtl="0">
              <a:lnSpc>
                <a:spcPct val="115000"/>
              </a:lnSpc>
              <a:spcBef>
                <a:spcPts val="1200"/>
              </a:spcBef>
              <a:spcAft>
                <a:spcPts val="0"/>
              </a:spcAft>
              <a:buClr>
                <a:schemeClr val="dk1"/>
              </a:buClr>
              <a:buSzPts val="1100"/>
              <a:buFont typeface="Arial"/>
              <a:buNone/>
            </a:pPr>
            <a:r>
              <a:rPr lang="en">
                <a:solidFill>
                  <a:schemeClr val="dk1"/>
                </a:solidFill>
              </a:rPr>
              <a:t>Our 3rd contribution is our objective for maximizing BPR.</a:t>
            </a:r>
            <a:endParaRPr>
              <a:solidFill>
                <a:schemeClr val="dk1"/>
              </a:solidFill>
            </a:endParaRPr>
          </a:p>
          <a:p>
            <a:pPr marL="381000" marR="381000" lvl="0" indent="0" algn="l" rtl="0">
              <a:lnSpc>
                <a:spcPct val="115000"/>
              </a:lnSpc>
              <a:spcBef>
                <a:spcPts val="1200"/>
              </a:spcBef>
              <a:spcAft>
                <a:spcPts val="1200"/>
              </a:spcAft>
              <a:buClr>
                <a:schemeClr val="dk1"/>
              </a:buClr>
              <a:buSzPts val="1100"/>
              <a:buFont typeface="Arial"/>
              <a:buNone/>
            </a:pPr>
            <a:r>
              <a:rPr lang="en">
                <a:solidFill>
                  <a:schemeClr val="dk1"/>
                </a:solidFill>
              </a:rPr>
              <a:t>"First, we can optimise likelihood alone- while this may provide the most accurate predictions at each location, when the model is misspecified it does not provide the best decisions. We can visualize the result of training to maximize log likelihood on this pareto frontier of likelihood on the y axis versus BPR on the x-axis.</a:t>
            </a:r>
            <a:br>
              <a:rPr lang="en">
                <a:solidFill>
                  <a:schemeClr val="dk1"/>
                </a:solidFill>
              </a:rPr>
            </a:b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643501de88_0_2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643501de88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81000" marR="381000" lvl="0" indent="0" algn="l" rtl="0">
              <a:lnSpc>
                <a:spcPct val="115000"/>
              </a:lnSpc>
              <a:spcBef>
                <a:spcPts val="1200"/>
              </a:spcBef>
              <a:spcAft>
                <a:spcPts val="0"/>
              </a:spcAft>
              <a:buClr>
                <a:schemeClr val="dk1"/>
              </a:buClr>
              <a:buSzPts val="1100"/>
              <a:buFont typeface="Arial"/>
              <a:buNone/>
            </a:pPr>
            <a:br>
              <a:rPr lang="en">
                <a:solidFill>
                  <a:schemeClr val="dk1"/>
                </a:solidFill>
              </a:rPr>
            </a:br>
            <a:r>
              <a:rPr lang="en">
                <a:solidFill>
                  <a:schemeClr val="dk1"/>
                </a:solidFill>
              </a:rPr>
              <a:t>Another option would be to do direct loss minimization, and solely optimze for the best decisions. While we find this does give good decisions- we construct our models intentionally, and so a higher likelihood model may be more interpretable or have other useful biases, but only optimizing for BPR gives poor likelihood.</a:t>
            </a:r>
            <a:br>
              <a:rPr lang="en">
                <a:solidFill>
                  <a:schemeClr val="dk1"/>
                </a:solidFill>
              </a:rPr>
            </a:b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643501de88_0_3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3643501de88_0_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81000" marR="381000" lvl="0" indent="0" algn="l" rtl="0">
              <a:lnSpc>
                <a:spcPct val="115000"/>
              </a:lnSpc>
              <a:spcBef>
                <a:spcPts val="1200"/>
              </a:spcBef>
              <a:spcAft>
                <a:spcPts val="0"/>
              </a:spcAft>
              <a:buClr>
                <a:schemeClr val="dk1"/>
              </a:buClr>
              <a:buSzPts val="1100"/>
              <a:buFont typeface="Arial"/>
              <a:buNone/>
            </a:pPr>
            <a:r>
              <a:rPr lang="en">
                <a:solidFill>
                  <a:schemeClr val="dk1"/>
                </a:solidFill>
              </a:rPr>
              <a:t>Our contribution in this paper is a hybrid objective that optimizes NLL, subject to the constraint that BPR be above a certain threshold. By adjusting this threshold, we hope to navigtate the pareto frontier between high likelihood </a:t>
            </a:r>
            <a:endParaRPr>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sz="1050">
                <a:solidFill>
                  <a:srgbClr val="444746"/>
                </a:solidFill>
                <a:highlight>
                  <a:srgbClr val="FFFFFF"/>
                </a:highlight>
                <a:latin typeface="Roboto"/>
                <a:ea typeface="Roboto"/>
                <a:cs typeface="Roboto"/>
                <a:sym typeface="Roboto"/>
              </a:rPr>
              <a:t>\arg\!\,&amp;\max_{\phi} \quad \sum_t \log p_{\phi}( y_t )</a:t>
            </a:r>
            <a:endParaRPr sz="1050">
              <a:solidFill>
                <a:srgbClr val="444746"/>
              </a:solidFill>
              <a:highlight>
                <a:srgbClr val="FFFFFF"/>
              </a:highlight>
              <a:latin typeface="Roboto"/>
              <a:ea typeface="Roboto"/>
              <a:cs typeface="Roboto"/>
              <a:sym typeface="Roboto"/>
            </a:endParaRPr>
          </a:p>
          <a:p>
            <a:pPr marL="381000" marR="381000" lvl="0" indent="0" algn="l" rtl="0">
              <a:lnSpc>
                <a:spcPct val="115000"/>
              </a:lnSpc>
              <a:spcBef>
                <a:spcPts val="1200"/>
              </a:spcBef>
              <a:spcAft>
                <a:spcPts val="0"/>
              </a:spcAft>
              <a:buClr>
                <a:schemeClr val="dk1"/>
              </a:buClr>
              <a:buSzPts val="1100"/>
              <a:buFont typeface="Arial"/>
              <a:buNone/>
            </a:pPr>
            <a:r>
              <a:rPr lang="en" sz="1050">
                <a:solidFill>
                  <a:srgbClr val="444746"/>
                </a:solidFill>
                <a:highlight>
                  <a:srgbClr val="FFFFFF"/>
                </a:highlight>
                <a:latin typeface="Roboto"/>
                <a:ea typeface="Roboto"/>
                <a:cs typeface="Roboto"/>
                <a:sym typeface="Roboto"/>
              </a:rPr>
              <a:t>\\</a:t>
            </a:r>
            <a:endParaRPr sz="1050">
              <a:solidFill>
                <a:srgbClr val="444746"/>
              </a:solidFill>
              <a:highlight>
                <a:srgbClr val="FFFFFF"/>
              </a:highlight>
              <a:latin typeface="Roboto"/>
              <a:ea typeface="Roboto"/>
              <a:cs typeface="Roboto"/>
              <a:sym typeface="Roboto"/>
            </a:endParaRPr>
          </a:p>
          <a:p>
            <a:pPr marL="381000" marR="381000" lvl="0" indent="0" algn="l" rtl="0">
              <a:lnSpc>
                <a:spcPct val="115000"/>
              </a:lnSpc>
              <a:spcBef>
                <a:spcPts val="1200"/>
              </a:spcBef>
              <a:spcAft>
                <a:spcPts val="1200"/>
              </a:spcAft>
              <a:buClr>
                <a:schemeClr val="dk1"/>
              </a:buClr>
              <a:buSzPts val="1100"/>
              <a:buFont typeface="Arial"/>
              <a:buNone/>
            </a:pPr>
            <a:r>
              <a:rPr lang="en" sz="1050">
                <a:solidFill>
                  <a:srgbClr val="444746"/>
                </a:solidFill>
                <a:highlight>
                  <a:srgbClr val="FFFFFF"/>
                </a:highlight>
                <a:latin typeface="Roboto"/>
                <a:ea typeface="Roboto"/>
                <a:cs typeface="Roboto"/>
                <a:sym typeface="Roboto"/>
              </a:rPr>
              <a:t>&amp; \text{subj. to:} \quad \text{BPR}( r_t(\phi), y_t) \geq \epsilon ~~{\tiny \text{for all \emph{t}}}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643501de88_0_3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643501de88_0_3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81000" marR="381000" lvl="0" indent="0" algn="l" rtl="0">
              <a:lnSpc>
                <a:spcPct val="115000"/>
              </a:lnSpc>
              <a:spcBef>
                <a:spcPts val="1200"/>
              </a:spcBef>
              <a:spcAft>
                <a:spcPts val="120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643501de88_0_3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3643501de88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643501de88_0_3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643501de88_0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643501de88_0_3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3643501de88_0_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81000" marR="381000" lvl="0" indent="0" algn="l" rtl="0">
              <a:lnSpc>
                <a:spcPct val="115000"/>
              </a:lnSpc>
              <a:spcBef>
                <a:spcPts val="1200"/>
              </a:spcBef>
              <a:spcAft>
                <a:spcPts val="0"/>
              </a:spcAft>
              <a:buClr>
                <a:schemeClr val="dk1"/>
              </a:buClr>
              <a:buSzPts val="1100"/>
              <a:buFont typeface="Arial"/>
              <a:buNone/>
            </a:pPr>
            <a:r>
              <a:rPr lang="en">
                <a:solidFill>
                  <a:schemeClr val="dk1"/>
                </a:solidFill>
              </a:rPr>
              <a:t>and quality decisions, and we find that we can in synthetic and real-world examples.</a:t>
            </a:r>
            <a:endParaRPr>
              <a:solidFill>
                <a:schemeClr val="dk1"/>
              </a:solidFill>
            </a:endParaRPr>
          </a:p>
          <a:p>
            <a:pPr marL="0" lvl="0" indent="0" algn="l" rtl="0">
              <a:spcBef>
                <a:spcPts val="120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643501de88_0_4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3643501de88_0_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1100"/>
              <a:buFont typeface="Arial"/>
              <a:buNone/>
            </a:pPr>
            <a:r>
              <a:rPr lang="en">
                <a:solidFill>
                  <a:schemeClr val="dk1"/>
                </a:solidFill>
              </a:rPr>
              <a:t>Finally, we present real-world results. Here we see the solution frontier for forecasting fatal opioid-related overdose in Chicago, Illinois’ Cook County. We see that Log-likelihood only produces high likelihood models with worse decision quality compared to BPR-only, and our Decision-aware objective offers a middle ground with higher quality solutions and high model likelihood. The roughly 4% increase in BPR, corresponds to interventions which would reach counties with approximately 70 more overdoses than if intervention were guided by likelihood alone.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643501de88_0_4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3643501de88_0_4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BA06B-112F-CD11-DE6D-C11B4EE0FF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80DB34-976E-4D3B-1D5A-36AB080066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142E81-BB3F-718F-EE44-4691CF11E218}"/>
              </a:ext>
            </a:extLst>
          </p:cNvPr>
          <p:cNvSpPr>
            <a:spLocks noGrp="1"/>
          </p:cNvSpPr>
          <p:nvPr>
            <p:ph type="dt" sz="half" idx="10"/>
          </p:nvPr>
        </p:nvSpPr>
        <p:spPr/>
        <p:txBody>
          <a:bodyPr/>
          <a:lstStyle/>
          <a:p>
            <a:fld id="{79FE0330-1EA4-4F1A-9309-37DFB846F069}" type="datetimeFigureOut">
              <a:rPr lang="en-US" smtClean="0"/>
              <a:t>3/31/2026</a:t>
            </a:fld>
            <a:endParaRPr lang="en-US"/>
          </a:p>
        </p:txBody>
      </p:sp>
      <p:sp>
        <p:nvSpPr>
          <p:cNvPr id="5" name="Footer Placeholder 4">
            <a:extLst>
              <a:ext uri="{FF2B5EF4-FFF2-40B4-BE49-F238E27FC236}">
                <a16:creationId xmlns:a16="http://schemas.microsoft.com/office/drawing/2014/main" id="{7AE6A862-3615-DD28-B251-172AD49550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65DEA4-148A-2EBB-F502-A354D0A7AF30}"/>
              </a:ext>
            </a:extLst>
          </p:cNvPr>
          <p:cNvSpPr>
            <a:spLocks noGrp="1"/>
          </p:cNvSpPr>
          <p:nvPr>
            <p:ph type="sldNum" sz="quarter" idx="12"/>
          </p:nvPr>
        </p:nvSpPr>
        <p:spPr/>
        <p:txBody>
          <a:bodyPr/>
          <a:lstStyle/>
          <a:p>
            <a:fld id="{2D8A6F88-0D0F-44AC-B3BE-65C6B23B935D}" type="slidenum">
              <a:rPr lang="en-US" smtClean="0"/>
              <a:t>‹#›</a:t>
            </a:fld>
            <a:endParaRPr lang="en-US"/>
          </a:p>
        </p:txBody>
      </p:sp>
    </p:spTree>
    <p:extLst>
      <p:ext uri="{BB962C8B-B14F-4D97-AF65-F5344CB8AC3E}">
        <p14:creationId xmlns:p14="http://schemas.microsoft.com/office/powerpoint/2010/main" val="510643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9AD45-8FB7-0F58-7ED9-84DC3CFB11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CF4CC4-A617-FF59-E097-995C1EE1DD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A981F0-C0F3-3305-814A-1DFE2C91EA26}"/>
              </a:ext>
            </a:extLst>
          </p:cNvPr>
          <p:cNvSpPr>
            <a:spLocks noGrp="1"/>
          </p:cNvSpPr>
          <p:nvPr>
            <p:ph type="dt" sz="half" idx="10"/>
          </p:nvPr>
        </p:nvSpPr>
        <p:spPr/>
        <p:txBody>
          <a:bodyPr/>
          <a:lstStyle/>
          <a:p>
            <a:fld id="{79FE0330-1EA4-4F1A-9309-37DFB846F069}" type="datetimeFigureOut">
              <a:rPr lang="en-US" smtClean="0"/>
              <a:t>3/31/2026</a:t>
            </a:fld>
            <a:endParaRPr lang="en-US"/>
          </a:p>
        </p:txBody>
      </p:sp>
      <p:sp>
        <p:nvSpPr>
          <p:cNvPr id="5" name="Footer Placeholder 4">
            <a:extLst>
              <a:ext uri="{FF2B5EF4-FFF2-40B4-BE49-F238E27FC236}">
                <a16:creationId xmlns:a16="http://schemas.microsoft.com/office/drawing/2014/main" id="{258E0A83-CC55-1571-87A2-CC36185798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EE3C77-FAB4-4448-5E4B-3144DA5517DC}"/>
              </a:ext>
            </a:extLst>
          </p:cNvPr>
          <p:cNvSpPr>
            <a:spLocks noGrp="1"/>
          </p:cNvSpPr>
          <p:nvPr>
            <p:ph type="sldNum" sz="quarter" idx="12"/>
          </p:nvPr>
        </p:nvSpPr>
        <p:spPr/>
        <p:txBody>
          <a:bodyPr/>
          <a:lstStyle/>
          <a:p>
            <a:fld id="{2D8A6F88-0D0F-44AC-B3BE-65C6B23B935D}" type="slidenum">
              <a:rPr lang="en-US" smtClean="0"/>
              <a:t>‹#›</a:t>
            </a:fld>
            <a:endParaRPr lang="en-US"/>
          </a:p>
        </p:txBody>
      </p:sp>
    </p:spTree>
    <p:extLst>
      <p:ext uri="{BB962C8B-B14F-4D97-AF65-F5344CB8AC3E}">
        <p14:creationId xmlns:p14="http://schemas.microsoft.com/office/powerpoint/2010/main" val="1922730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70C6A-44D3-D737-4802-6F50A8F46E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FD28890-ABB7-CD87-707A-5442F50B83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06EE85-DF3A-137E-FE7F-509904429863}"/>
              </a:ext>
            </a:extLst>
          </p:cNvPr>
          <p:cNvSpPr>
            <a:spLocks noGrp="1"/>
          </p:cNvSpPr>
          <p:nvPr>
            <p:ph type="dt" sz="half" idx="10"/>
          </p:nvPr>
        </p:nvSpPr>
        <p:spPr/>
        <p:txBody>
          <a:bodyPr/>
          <a:lstStyle/>
          <a:p>
            <a:fld id="{79FE0330-1EA4-4F1A-9309-37DFB846F069}" type="datetimeFigureOut">
              <a:rPr lang="en-US" smtClean="0"/>
              <a:t>3/31/2026</a:t>
            </a:fld>
            <a:endParaRPr lang="en-US"/>
          </a:p>
        </p:txBody>
      </p:sp>
      <p:sp>
        <p:nvSpPr>
          <p:cNvPr id="5" name="Footer Placeholder 4">
            <a:extLst>
              <a:ext uri="{FF2B5EF4-FFF2-40B4-BE49-F238E27FC236}">
                <a16:creationId xmlns:a16="http://schemas.microsoft.com/office/drawing/2014/main" id="{7FA6E8EA-971C-0FFA-0838-9988F757BC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3DB6FC-43B6-6322-9885-69A96FF863CF}"/>
              </a:ext>
            </a:extLst>
          </p:cNvPr>
          <p:cNvSpPr>
            <a:spLocks noGrp="1"/>
          </p:cNvSpPr>
          <p:nvPr>
            <p:ph type="sldNum" sz="quarter" idx="12"/>
          </p:nvPr>
        </p:nvSpPr>
        <p:spPr/>
        <p:txBody>
          <a:bodyPr/>
          <a:lstStyle/>
          <a:p>
            <a:fld id="{2D8A6F88-0D0F-44AC-B3BE-65C6B23B935D}" type="slidenum">
              <a:rPr lang="en-US" smtClean="0"/>
              <a:t>‹#›</a:t>
            </a:fld>
            <a:endParaRPr lang="en-US"/>
          </a:p>
        </p:txBody>
      </p:sp>
    </p:spTree>
    <p:extLst>
      <p:ext uri="{BB962C8B-B14F-4D97-AF65-F5344CB8AC3E}">
        <p14:creationId xmlns:p14="http://schemas.microsoft.com/office/powerpoint/2010/main" val="1577898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DCE2F-6ED8-23CF-0E8F-828F22E463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E54CC8-7622-8064-A65A-311BBBF1AE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3357C2-2A99-F53B-B800-08CE6EB18A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F08907-4192-9A53-93B9-BF7F2364B61B}"/>
              </a:ext>
            </a:extLst>
          </p:cNvPr>
          <p:cNvSpPr>
            <a:spLocks noGrp="1"/>
          </p:cNvSpPr>
          <p:nvPr>
            <p:ph type="dt" sz="half" idx="10"/>
          </p:nvPr>
        </p:nvSpPr>
        <p:spPr/>
        <p:txBody>
          <a:bodyPr/>
          <a:lstStyle/>
          <a:p>
            <a:fld id="{79FE0330-1EA4-4F1A-9309-37DFB846F069}" type="datetimeFigureOut">
              <a:rPr lang="en-US" smtClean="0"/>
              <a:t>3/31/2026</a:t>
            </a:fld>
            <a:endParaRPr lang="en-US"/>
          </a:p>
        </p:txBody>
      </p:sp>
      <p:sp>
        <p:nvSpPr>
          <p:cNvPr id="6" name="Footer Placeholder 5">
            <a:extLst>
              <a:ext uri="{FF2B5EF4-FFF2-40B4-BE49-F238E27FC236}">
                <a16:creationId xmlns:a16="http://schemas.microsoft.com/office/drawing/2014/main" id="{34B68B80-27BD-EB20-559E-7DB921B164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DE630B-233E-EFE5-036B-934F11954B1E}"/>
              </a:ext>
            </a:extLst>
          </p:cNvPr>
          <p:cNvSpPr>
            <a:spLocks noGrp="1"/>
          </p:cNvSpPr>
          <p:nvPr>
            <p:ph type="sldNum" sz="quarter" idx="12"/>
          </p:nvPr>
        </p:nvSpPr>
        <p:spPr/>
        <p:txBody>
          <a:bodyPr/>
          <a:lstStyle/>
          <a:p>
            <a:fld id="{2D8A6F88-0D0F-44AC-B3BE-65C6B23B935D}" type="slidenum">
              <a:rPr lang="en-US" smtClean="0"/>
              <a:t>‹#›</a:t>
            </a:fld>
            <a:endParaRPr lang="en-US"/>
          </a:p>
        </p:txBody>
      </p:sp>
    </p:spTree>
    <p:extLst>
      <p:ext uri="{BB962C8B-B14F-4D97-AF65-F5344CB8AC3E}">
        <p14:creationId xmlns:p14="http://schemas.microsoft.com/office/powerpoint/2010/main" val="2958356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2FD6D-6584-D1C1-97F9-2E16CC82AC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E08737-64DD-853E-65C7-5B0AC6584C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D3CB77-D9AD-EAB2-C679-6C971407D8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7EDA99-41C9-5279-12F1-E8A438BC59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899F72-7B91-3BB6-4ED0-FAB62ADC91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E9F8E0-1B8E-5744-0364-DE58A1CE2E0F}"/>
              </a:ext>
            </a:extLst>
          </p:cNvPr>
          <p:cNvSpPr>
            <a:spLocks noGrp="1"/>
          </p:cNvSpPr>
          <p:nvPr>
            <p:ph type="dt" sz="half" idx="10"/>
          </p:nvPr>
        </p:nvSpPr>
        <p:spPr/>
        <p:txBody>
          <a:bodyPr/>
          <a:lstStyle/>
          <a:p>
            <a:fld id="{79FE0330-1EA4-4F1A-9309-37DFB846F069}" type="datetimeFigureOut">
              <a:rPr lang="en-US" smtClean="0"/>
              <a:t>3/31/2026</a:t>
            </a:fld>
            <a:endParaRPr lang="en-US"/>
          </a:p>
        </p:txBody>
      </p:sp>
      <p:sp>
        <p:nvSpPr>
          <p:cNvPr id="8" name="Footer Placeholder 7">
            <a:extLst>
              <a:ext uri="{FF2B5EF4-FFF2-40B4-BE49-F238E27FC236}">
                <a16:creationId xmlns:a16="http://schemas.microsoft.com/office/drawing/2014/main" id="{5A8A8096-5248-9269-AF62-475DAACC4E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06992D-A2F2-2129-F777-CD1F405BDE7E}"/>
              </a:ext>
            </a:extLst>
          </p:cNvPr>
          <p:cNvSpPr>
            <a:spLocks noGrp="1"/>
          </p:cNvSpPr>
          <p:nvPr>
            <p:ph type="sldNum" sz="quarter" idx="12"/>
          </p:nvPr>
        </p:nvSpPr>
        <p:spPr/>
        <p:txBody>
          <a:bodyPr/>
          <a:lstStyle/>
          <a:p>
            <a:fld id="{2D8A6F88-0D0F-44AC-B3BE-65C6B23B935D}" type="slidenum">
              <a:rPr lang="en-US" smtClean="0"/>
              <a:t>‹#›</a:t>
            </a:fld>
            <a:endParaRPr lang="en-US"/>
          </a:p>
        </p:txBody>
      </p:sp>
    </p:spTree>
    <p:extLst>
      <p:ext uri="{BB962C8B-B14F-4D97-AF65-F5344CB8AC3E}">
        <p14:creationId xmlns:p14="http://schemas.microsoft.com/office/powerpoint/2010/main" val="3988515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90B01-29DD-3276-E6EF-B6E71458FC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F86FD5-82FC-CE78-4EED-9CD8748FB4D5}"/>
              </a:ext>
            </a:extLst>
          </p:cNvPr>
          <p:cNvSpPr>
            <a:spLocks noGrp="1"/>
          </p:cNvSpPr>
          <p:nvPr>
            <p:ph type="dt" sz="half" idx="10"/>
          </p:nvPr>
        </p:nvSpPr>
        <p:spPr/>
        <p:txBody>
          <a:bodyPr/>
          <a:lstStyle/>
          <a:p>
            <a:fld id="{79FE0330-1EA4-4F1A-9309-37DFB846F069}" type="datetimeFigureOut">
              <a:rPr lang="en-US" smtClean="0"/>
              <a:t>3/31/2026</a:t>
            </a:fld>
            <a:endParaRPr lang="en-US"/>
          </a:p>
        </p:txBody>
      </p:sp>
      <p:sp>
        <p:nvSpPr>
          <p:cNvPr id="4" name="Footer Placeholder 3">
            <a:extLst>
              <a:ext uri="{FF2B5EF4-FFF2-40B4-BE49-F238E27FC236}">
                <a16:creationId xmlns:a16="http://schemas.microsoft.com/office/drawing/2014/main" id="{EB8BC2ED-F986-99D6-C0B1-BE5C476DC7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0E8928-4659-AD96-A2BC-5D5DB81229AA}"/>
              </a:ext>
            </a:extLst>
          </p:cNvPr>
          <p:cNvSpPr>
            <a:spLocks noGrp="1"/>
          </p:cNvSpPr>
          <p:nvPr>
            <p:ph type="sldNum" sz="quarter" idx="12"/>
          </p:nvPr>
        </p:nvSpPr>
        <p:spPr/>
        <p:txBody>
          <a:bodyPr/>
          <a:lstStyle/>
          <a:p>
            <a:fld id="{2D8A6F88-0D0F-44AC-B3BE-65C6B23B935D}" type="slidenum">
              <a:rPr lang="en-US" smtClean="0"/>
              <a:t>‹#›</a:t>
            </a:fld>
            <a:endParaRPr lang="en-US"/>
          </a:p>
        </p:txBody>
      </p:sp>
    </p:spTree>
    <p:extLst>
      <p:ext uri="{BB962C8B-B14F-4D97-AF65-F5344CB8AC3E}">
        <p14:creationId xmlns:p14="http://schemas.microsoft.com/office/powerpoint/2010/main" val="3039626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FB190B-CA6B-E937-C7DD-BC28F0E0EB41}"/>
              </a:ext>
            </a:extLst>
          </p:cNvPr>
          <p:cNvSpPr>
            <a:spLocks noGrp="1"/>
          </p:cNvSpPr>
          <p:nvPr>
            <p:ph type="dt" sz="half" idx="10"/>
          </p:nvPr>
        </p:nvSpPr>
        <p:spPr/>
        <p:txBody>
          <a:bodyPr/>
          <a:lstStyle/>
          <a:p>
            <a:fld id="{79FE0330-1EA4-4F1A-9309-37DFB846F069}" type="datetimeFigureOut">
              <a:rPr lang="en-US" smtClean="0"/>
              <a:t>3/31/2026</a:t>
            </a:fld>
            <a:endParaRPr lang="en-US"/>
          </a:p>
        </p:txBody>
      </p:sp>
      <p:sp>
        <p:nvSpPr>
          <p:cNvPr id="3" name="Footer Placeholder 2">
            <a:extLst>
              <a:ext uri="{FF2B5EF4-FFF2-40B4-BE49-F238E27FC236}">
                <a16:creationId xmlns:a16="http://schemas.microsoft.com/office/drawing/2014/main" id="{E4533147-BD65-9CAC-1851-A05B09DB8D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AA940B-B9E0-F7FD-0EAF-B6D7D11B87CC}"/>
              </a:ext>
            </a:extLst>
          </p:cNvPr>
          <p:cNvSpPr>
            <a:spLocks noGrp="1"/>
          </p:cNvSpPr>
          <p:nvPr>
            <p:ph type="sldNum" sz="quarter" idx="12"/>
          </p:nvPr>
        </p:nvSpPr>
        <p:spPr/>
        <p:txBody>
          <a:bodyPr/>
          <a:lstStyle/>
          <a:p>
            <a:fld id="{2D8A6F88-0D0F-44AC-B3BE-65C6B23B935D}" type="slidenum">
              <a:rPr lang="en-US" smtClean="0"/>
              <a:t>‹#›</a:t>
            </a:fld>
            <a:endParaRPr lang="en-US"/>
          </a:p>
        </p:txBody>
      </p:sp>
    </p:spTree>
    <p:extLst>
      <p:ext uri="{BB962C8B-B14F-4D97-AF65-F5344CB8AC3E}">
        <p14:creationId xmlns:p14="http://schemas.microsoft.com/office/powerpoint/2010/main" val="3323218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0D716-CEE4-AFEF-5F5A-C797A2E5C1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7367B78-996B-1631-CB52-A6FB54FBDC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6C5C797-8B0F-72CF-6E7E-4169F084DD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605008-B87B-361E-C417-1C70EBF1D743}"/>
              </a:ext>
            </a:extLst>
          </p:cNvPr>
          <p:cNvSpPr>
            <a:spLocks noGrp="1"/>
          </p:cNvSpPr>
          <p:nvPr>
            <p:ph type="dt" sz="half" idx="10"/>
          </p:nvPr>
        </p:nvSpPr>
        <p:spPr/>
        <p:txBody>
          <a:bodyPr/>
          <a:lstStyle/>
          <a:p>
            <a:fld id="{79FE0330-1EA4-4F1A-9309-37DFB846F069}" type="datetimeFigureOut">
              <a:rPr lang="en-US" smtClean="0"/>
              <a:t>3/31/2026</a:t>
            </a:fld>
            <a:endParaRPr lang="en-US"/>
          </a:p>
        </p:txBody>
      </p:sp>
      <p:sp>
        <p:nvSpPr>
          <p:cNvPr id="6" name="Footer Placeholder 5">
            <a:extLst>
              <a:ext uri="{FF2B5EF4-FFF2-40B4-BE49-F238E27FC236}">
                <a16:creationId xmlns:a16="http://schemas.microsoft.com/office/drawing/2014/main" id="{B6F83FB7-3355-14A3-D88B-08F29E8085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F96041-FCEE-C9BE-8A5A-AD1AA795D8CD}"/>
              </a:ext>
            </a:extLst>
          </p:cNvPr>
          <p:cNvSpPr>
            <a:spLocks noGrp="1"/>
          </p:cNvSpPr>
          <p:nvPr>
            <p:ph type="sldNum" sz="quarter" idx="12"/>
          </p:nvPr>
        </p:nvSpPr>
        <p:spPr/>
        <p:txBody>
          <a:bodyPr/>
          <a:lstStyle/>
          <a:p>
            <a:fld id="{2D8A6F88-0D0F-44AC-B3BE-65C6B23B935D}" type="slidenum">
              <a:rPr lang="en-US" smtClean="0"/>
              <a:t>‹#›</a:t>
            </a:fld>
            <a:endParaRPr lang="en-US"/>
          </a:p>
        </p:txBody>
      </p:sp>
    </p:spTree>
    <p:extLst>
      <p:ext uri="{BB962C8B-B14F-4D97-AF65-F5344CB8AC3E}">
        <p14:creationId xmlns:p14="http://schemas.microsoft.com/office/powerpoint/2010/main" val="4130891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C07D5-8613-3CD6-5043-CC1A95930B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6ABCE7-8260-1B31-CCC5-BEF408C0E9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CFB614A-9B31-F087-30A3-E4A0DA7518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14F951-893C-9A2A-DFE7-326A4C7B806D}"/>
              </a:ext>
            </a:extLst>
          </p:cNvPr>
          <p:cNvSpPr>
            <a:spLocks noGrp="1"/>
          </p:cNvSpPr>
          <p:nvPr>
            <p:ph type="dt" sz="half" idx="10"/>
          </p:nvPr>
        </p:nvSpPr>
        <p:spPr/>
        <p:txBody>
          <a:bodyPr/>
          <a:lstStyle/>
          <a:p>
            <a:fld id="{79FE0330-1EA4-4F1A-9309-37DFB846F069}" type="datetimeFigureOut">
              <a:rPr lang="en-US" smtClean="0"/>
              <a:t>3/31/2026</a:t>
            </a:fld>
            <a:endParaRPr lang="en-US"/>
          </a:p>
        </p:txBody>
      </p:sp>
      <p:sp>
        <p:nvSpPr>
          <p:cNvPr id="6" name="Footer Placeholder 5">
            <a:extLst>
              <a:ext uri="{FF2B5EF4-FFF2-40B4-BE49-F238E27FC236}">
                <a16:creationId xmlns:a16="http://schemas.microsoft.com/office/drawing/2014/main" id="{F39FA8F1-BAD5-47A0-686C-2A6FE908B0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01FE78-6951-F903-78A6-948F3F507F52}"/>
              </a:ext>
            </a:extLst>
          </p:cNvPr>
          <p:cNvSpPr>
            <a:spLocks noGrp="1"/>
          </p:cNvSpPr>
          <p:nvPr>
            <p:ph type="sldNum" sz="quarter" idx="12"/>
          </p:nvPr>
        </p:nvSpPr>
        <p:spPr/>
        <p:txBody>
          <a:bodyPr/>
          <a:lstStyle/>
          <a:p>
            <a:fld id="{2D8A6F88-0D0F-44AC-B3BE-65C6B23B935D}" type="slidenum">
              <a:rPr lang="en-US" smtClean="0"/>
              <a:t>‹#›</a:t>
            </a:fld>
            <a:endParaRPr lang="en-US"/>
          </a:p>
        </p:txBody>
      </p:sp>
    </p:spTree>
    <p:extLst>
      <p:ext uri="{BB962C8B-B14F-4D97-AF65-F5344CB8AC3E}">
        <p14:creationId xmlns:p14="http://schemas.microsoft.com/office/powerpoint/2010/main" val="230684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3B8C5-E38C-B385-B72A-BCC7EE2B07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00D34E2-A3F6-16CA-1AC1-BE3B665F3F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2F5171-4511-9DE1-EAE8-A1DF0CCCDAE8}"/>
              </a:ext>
            </a:extLst>
          </p:cNvPr>
          <p:cNvSpPr>
            <a:spLocks noGrp="1"/>
          </p:cNvSpPr>
          <p:nvPr>
            <p:ph type="dt" sz="half" idx="10"/>
          </p:nvPr>
        </p:nvSpPr>
        <p:spPr/>
        <p:txBody>
          <a:bodyPr/>
          <a:lstStyle/>
          <a:p>
            <a:fld id="{79FE0330-1EA4-4F1A-9309-37DFB846F069}" type="datetimeFigureOut">
              <a:rPr lang="en-US" smtClean="0"/>
              <a:t>3/31/2026</a:t>
            </a:fld>
            <a:endParaRPr lang="en-US"/>
          </a:p>
        </p:txBody>
      </p:sp>
      <p:sp>
        <p:nvSpPr>
          <p:cNvPr id="5" name="Footer Placeholder 4">
            <a:extLst>
              <a:ext uri="{FF2B5EF4-FFF2-40B4-BE49-F238E27FC236}">
                <a16:creationId xmlns:a16="http://schemas.microsoft.com/office/drawing/2014/main" id="{A8637604-AE7C-F55F-FEBE-CA1ACEC914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ADB068-AB1C-703D-44B5-F2D8DB786029}"/>
              </a:ext>
            </a:extLst>
          </p:cNvPr>
          <p:cNvSpPr>
            <a:spLocks noGrp="1"/>
          </p:cNvSpPr>
          <p:nvPr>
            <p:ph type="sldNum" sz="quarter" idx="12"/>
          </p:nvPr>
        </p:nvSpPr>
        <p:spPr/>
        <p:txBody>
          <a:bodyPr/>
          <a:lstStyle/>
          <a:p>
            <a:fld id="{2D8A6F88-0D0F-44AC-B3BE-65C6B23B935D}" type="slidenum">
              <a:rPr lang="en-US" smtClean="0"/>
              <a:t>‹#›</a:t>
            </a:fld>
            <a:endParaRPr lang="en-US"/>
          </a:p>
        </p:txBody>
      </p:sp>
    </p:spTree>
    <p:extLst>
      <p:ext uri="{BB962C8B-B14F-4D97-AF65-F5344CB8AC3E}">
        <p14:creationId xmlns:p14="http://schemas.microsoft.com/office/powerpoint/2010/main" val="1042771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8B11AA-9CD9-160F-9261-6FEB1E741F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7A5561-C473-27EC-C431-81C3B95638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6AFDE1-6268-CB52-85E3-32F960119948}"/>
              </a:ext>
            </a:extLst>
          </p:cNvPr>
          <p:cNvSpPr>
            <a:spLocks noGrp="1"/>
          </p:cNvSpPr>
          <p:nvPr>
            <p:ph type="dt" sz="half" idx="10"/>
          </p:nvPr>
        </p:nvSpPr>
        <p:spPr/>
        <p:txBody>
          <a:bodyPr/>
          <a:lstStyle/>
          <a:p>
            <a:fld id="{79FE0330-1EA4-4F1A-9309-37DFB846F069}" type="datetimeFigureOut">
              <a:rPr lang="en-US" smtClean="0"/>
              <a:t>3/31/2026</a:t>
            </a:fld>
            <a:endParaRPr lang="en-US"/>
          </a:p>
        </p:txBody>
      </p:sp>
      <p:sp>
        <p:nvSpPr>
          <p:cNvPr id="5" name="Footer Placeholder 4">
            <a:extLst>
              <a:ext uri="{FF2B5EF4-FFF2-40B4-BE49-F238E27FC236}">
                <a16:creationId xmlns:a16="http://schemas.microsoft.com/office/drawing/2014/main" id="{BA30FCC7-82E5-C2A8-4929-A4CD1F5D7E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06F47C-F4E7-35F5-D1DE-BC917BE2C4EA}"/>
              </a:ext>
            </a:extLst>
          </p:cNvPr>
          <p:cNvSpPr>
            <a:spLocks noGrp="1"/>
          </p:cNvSpPr>
          <p:nvPr>
            <p:ph type="sldNum" sz="quarter" idx="12"/>
          </p:nvPr>
        </p:nvSpPr>
        <p:spPr/>
        <p:txBody>
          <a:bodyPr/>
          <a:lstStyle/>
          <a:p>
            <a:fld id="{2D8A6F88-0D0F-44AC-B3BE-65C6B23B935D}" type="slidenum">
              <a:rPr lang="en-US" smtClean="0"/>
              <a:t>‹#›</a:t>
            </a:fld>
            <a:endParaRPr lang="en-US"/>
          </a:p>
        </p:txBody>
      </p:sp>
    </p:spTree>
    <p:extLst>
      <p:ext uri="{BB962C8B-B14F-4D97-AF65-F5344CB8AC3E}">
        <p14:creationId xmlns:p14="http://schemas.microsoft.com/office/powerpoint/2010/main" val="15058648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4233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A678F0-C014-0641-2588-66B6259A7D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27D5EA-1336-850F-FD27-FA5D5AC5C8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63301C-2F3B-31DB-8238-FC3D2D48BD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FE0330-1EA4-4F1A-9309-37DFB846F069}" type="datetimeFigureOut">
              <a:rPr lang="en-US" smtClean="0"/>
              <a:t>3/31/2026</a:t>
            </a:fld>
            <a:endParaRPr lang="en-US"/>
          </a:p>
        </p:txBody>
      </p:sp>
      <p:sp>
        <p:nvSpPr>
          <p:cNvPr id="5" name="Footer Placeholder 4">
            <a:extLst>
              <a:ext uri="{FF2B5EF4-FFF2-40B4-BE49-F238E27FC236}">
                <a16:creationId xmlns:a16="http://schemas.microsoft.com/office/drawing/2014/main" id="{1AA8E6AD-D5E0-D771-E048-CE1F1383BE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4EFD088-EE17-18F7-F91E-D0748BD60E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8A6F88-0D0F-44AC-B3BE-65C6B23B935D}" type="slidenum">
              <a:rPr lang="en-US" smtClean="0"/>
              <a:t>‹#›</a:t>
            </a:fld>
            <a:endParaRPr lang="en-US"/>
          </a:p>
        </p:txBody>
      </p:sp>
    </p:spTree>
    <p:extLst>
      <p:ext uri="{BB962C8B-B14F-4D97-AF65-F5344CB8AC3E}">
        <p14:creationId xmlns:p14="http://schemas.microsoft.com/office/powerpoint/2010/main" val="35938338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9"/>
          <p:cNvSpPr txBox="1">
            <a:spLocks noGrp="1"/>
          </p:cNvSpPr>
          <p:nvPr>
            <p:ph type="title"/>
          </p:nvPr>
        </p:nvSpPr>
        <p:spPr>
          <a:xfrm>
            <a:off x="73667" y="379633"/>
            <a:ext cx="11780400" cy="763600"/>
          </a:xfrm>
          <a:prstGeom prst="rect">
            <a:avLst/>
          </a:prstGeom>
        </p:spPr>
        <p:txBody>
          <a:bodyPr spcFirstLastPara="1" vert="horz" wrap="square" lIns="121900" tIns="121900" rIns="121900" bIns="121900" rtlCol="0" anchor="t" anchorCtr="0">
            <a:normAutofit fontScale="90000"/>
          </a:bodyPr>
          <a:lstStyle/>
          <a:p>
            <a:r>
              <a:rPr lang="en"/>
              <a:t>Contribution 3: How to train to balance BPR and Likelihood</a:t>
            </a:r>
            <a:endParaRPr/>
          </a:p>
        </p:txBody>
      </p:sp>
      <p:pic>
        <p:nvPicPr>
          <p:cNvPr id="316" name="Google Shape;316;p39" title="SynthFrontierSquare.png"/>
          <p:cNvPicPr preferRelativeResize="0"/>
          <p:nvPr/>
        </p:nvPicPr>
        <p:blipFill>
          <a:blip r:embed="rId3">
            <a:alphaModFix/>
          </a:blip>
          <a:stretch>
            <a:fillRect/>
          </a:stretch>
        </p:blipFill>
        <p:spPr>
          <a:xfrm>
            <a:off x="5977367" y="1356967"/>
            <a:ext cx="5876599" cy="5018688"/>
          </a:xfrm>
          <a:prstGeom prst="rect">
            <a:avLst/>
          </a:prstGeom>
          <a:noFill/>
          <a:ln>
            <a:noFill/>
          </a:ln>
        </p:spPr>
      </p:pic>
      <p:sp>
        <p:nvSpPr>
          <p:cNvPr id="317" name="Google Shape;317;p39"/>
          <p:cNvSpPr/>
          <p:nvPr/>
        </p:nvSpPr>
        <p:spPr>
          <a:xfrm>
            <a:off x="7817233" y="1825067"/>
            <a:ext cx="3812000" cy="859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318" name="Google Shape;318;p39"/>
          <p:cNvSpPr/>
          <p:nvPr/>
        </p:nvSpPr>
        <p:spPr>
          <a:xfrm>
            <a:off x="8786600" y="4943400"/>
            <a:ext cx="3812000" cy="859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319" name="Google Shape;319;p39"/>
          <p:cNvSpPr/>
          <p:nvPr/>
        </p:nvSpPr>
        <p:spPr>
          <a:xfrm>
            <a:off x="6808167" y="1620467"/>
            <a:ext cx="186800" cy="70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320" name="Google Shape;320;p39"/>
          <p:cNvSpPr/>
          <p:nvPr/>
        </p:nvSpPr>
        <p:spPr>
          <a:xfrm>
            <a:off x="6913200" y="4434133"/>
            <a:ext cx="1277600" cy="1202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321" name="Google Shape;321;p39"/>
          <p:cNvSpPr/>
          <p:nvPr/>
        </p:nvSpPr>
        <p:spPr>
          <a:xfrm>
            <a:off x="6913200" y="1781267"/>
            <a:ext cx="368400" cy="384400"/>
          </a:xfrm>
          <a:prstGeom prst="triangle">
            <a:avLst>
              <a:gd name="adj" fmla="val 50000"/>
            </a:avLst>
          </a:prstGeom>
          <a:solidFill>
            <a:srgbClr val="2CA02C"/>
          </a:solidFill>
          <a:ln w="9525" cap="flat" cmpd="sng">
            <a:solidFill>
              <a:srgbClr val="2CA02C"/>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grpSp>
        <p:nvGrpSpPr>
          <p:cNvPr id="322" name="Google Shape;322;p39"/>
          <p:cNvGrpSpPr/>
          <p:nvPr/>
        </p:nvGrpSpPr>
        <p:grpSpPr>
          <a:xfrm>
            <a:off x="73667" y="2821884"/>
            <a:ext cx="5812701" cy="1393816"/>
            <a:chOff x="55250" y="1286038"/>
            <a:chExt cx="4359526" cy="1045362"/>
          </a:xfrm>
        </p:grpSpPr>
        <p:pic>
          <p:nvPicPr>
            <p:cNvPr id="323" name="Google Shape;323;p39"/>
            <p:cNvPicPr preferRelativeResize="0"/>
            <p:nvPr/>
          </p:nvPicPr>
          <p:blipFill rotWithShape="1">
            <a:blip r:embed="rId4">
              <a:alphaModFix/>
            </a:blip>
            <a:srcRect r="79378" b="38088"/>
            <a:stretch/>
          </p:blipFill>
          <p:spPr>
            <a:xfrm>
              <a:off x="55250" y="1315575"/>
              <a:ext cx="1603175" cy="1015825"/>
            </a:xfrm>
            <a:prstGeom prst="rect">
              <a:avLst/>
            </a:prstGeom>
            <a:noFill/>
            <a:ln>
              <a:noFill/>
            </a:ln>
          </p:spPr>
        </p:pic>
        <p:pic>
          <p:nvPicPr>
            <p:cNvPr id="324" name="Google Shape;324;p39"/>
            <p:cNvPicPr preferRelativeResize="0"/>
            <p:nvPr/>
          </p:nvPicPr>
          <p:blipFill rotWithShape="1">
            <a:blip r:embed="rId4">
              <a:alphaModFix/>
            </a:blip>
            <a:srcRect l="25926" r="39497" b="38088"/>
            <a:stretch/>
          </p:blipFill>
          <p:spPr>
            <a:xfrm>
              <a:off x="1726650" y="1286038"/>
              <a:ext cx="2688125" cy="101582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329" name="Google Shape;329;p40" title="SynthFrontierSquare.png"/>
          <p:cNvPicPr preferRelativeResize="0"/>
          <p:nvPr/>
        </p:nvPicPr>
        <p:blipFill>
          <a:blip r:embed="rId3">
            <a:alphaModFix/>
          </a:blip>
          <a:stretch>
            <a:fillRect/>
          </a:stretch>
        </p:blipFill>
        <p:spPr>
          <a:xfrm>
            <a:off x="5977367" y="1356967"/>
            <a:ext cx="5876599" cy="5018688"/>
          </a:xfrm>
          <a:prstGeom prst="rect">
            <a:avLst/>
          </a:prstGeom>
          <a:noFill/>
          <a:ln>
            <a:noFill/>
          </a:ln>
        </p:spPr>
      </p:pic>
      <p:sp>
        <p:nvSpPr>
          <p:cNvPr id="330" name="Google Shape;330;p40"/>
          <p:cNvSpPr/>
          <p:nvPr/>
        </p:nvSpPr>
        <p:spPr>
          <a:xfrm>
            <a:off x="7817233" y="1825067"/>
            <a:ext cx="3812000" cy="859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331" name="Google Shape;331;p40"/>
          <p:cNvSpPr/>
          <p:nvPr/>
        </p:nvSpPr>
        <p:spPr>
          <a:xfrm>
            <a:off x="6808167" y="1620467"/>
            <a:ext cx="186800" cy="70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332" name="Google Shape;332;p40"/>
          <p:cNvSpPr/>
          <p:nvPr/>
        </p:nvSpPr>
        <p:spPr>
          <a:xfrm>
            <a:off x="6913200" y="4665433"/>
            <a:ext cx="1277600" cy="971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333" name="Google Shape;333;p40"/>
          <p:cNvSpPr txBox="1">
            <a:spLocks noGrp="1"/>
          </p:cNvSpPr>
          <p:nvPr>
            <p:ph type="title"/>
          </p:nvPr>
        </p:nvSpPr>
        <p:spPr>
          <a:xfrm>
            <a:off x="73667" y="379633"/>
            <a:ext cx="11780400" cy="763600"/>
          </a:xfrm>
          <a:prstGeom prst="rect">
            <a:avLst/>
          </a:prstGeom>
        </p:spPr>
        <p:txBody>
          <a:bodyPr spcFirstLastPara="1" vert="horz" wrap="square" lIns="121900" tIns="121900" rIns="121900" bIns="121900" rtlCol="0" anchor="t" anchorCtr="0">
            <a:normAutofit fontScale="90000"/>
          </a:bodyPr>
          <a:lstStyle/>
          <a:p>
            <a:r>
              <a:rPr lang="en"/>
              <a:t>Contribution 3: How to train to balance BPR and Likelihood</a:t>
            </a:r>
            <a:endParaRPr/>
          </a:p>
        </p:txBody>
      </p:sp>
      <p:pic>
        <p:nvPicPr>
          <p:cNvPr id="334" name="Google Shape;334;p40"/>
          <p:cNvPicPr preferRelativeResize="0"/>
          <p:nvPr/>
        </p:nvPicPr>
        <p:blipFill>
          <a:blip r:embed="rId4">
            <a:alphaModFix/>
          </a:blip>
          <a:stretch>
            <a:fillRect/>
          </a:stretch>
        </p:blipFill>
        <p:spPr>
          <a:xfrm>
            <a:off x="230534" y="3023325"/>
            <a:ext cx="5746829" cy="971600"/>
          </a:xfrm>
          <a:prstGeom prst="rect">
            <a:avLst/>
          </a:prstGeom>
          <a:noFill/>
          <a:ln>
            <a:noFill/>
          </a:ln>
        </p:spPr>
      </p:pic>
      <p:sp>
        <p:nvSpPr>
          <p:cNvPr id="335" name="Google Shape;335;p40"/>
          <p:cNvSpPr/>
          <p:nvPr/>
        </p:nvSpPr>
        <p:spPr>
          <a:xfrm>
            <a:off x="11277167" y="5287700"/>
            <a:ext cx="576800" cy="608800"/>
          </a:xfrm>
          <a:prstGeom prst="ellipse">
            <a:avLst/>
          </a:prstGeom>
          <a:solidFill>
            <a:srgbClr val="1F77B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pic>
        <p:nvPicPr>
          <p:cNvPr id="340" name="Google Shape;340;p41" title="SynthFrontierSquare.png"/>
          <p:cNvPicPr preferRelativeResize="0"/>
          <p:nvPr/>
        </p:nvPicPr>
        <p:blipFill>
          <a:blip r:embed="rId3">
            <a:alphaModFix/>
          </a:blip>
          <a:stretch>
            <a:fillRect/>
          </a:stretch>
        </p:blipFill>
        <p:spPr>
          <a:xfrm>
            <a:off x="5977367" y="1356967"/>
            <a:ext cx="5876599" cy="5018688"/>
          </a:xfrm>
          <a:prstGeom prst="rect">
            <a:avLst/>
          </a:prstGeom>
          <a:noFill/>
          <a:ln>
            <a:noFill/>
          </a:ln>
        </p:spPr>
      </p:pic>
      <p:sp>
        <p:nvSpPr>
          <p:cNvPr id="341" name="Google Shape;341;p41"/>
          <p:cNvSpPr/>
          <p:nvPr/>
        </p:nvSpPr>
        <p:spPr>
          <a:xfrm>
            <a:off x="7817233" y="1825067"/>
            <a:ext cx="3812000" cy="859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342" name="Google Shape;342;p41"/>
          <p:cNvSpPr/>
          <p:nvPr/>
        </p:nvSpPr>
        <p:spPr>
          <a:xfrm>
            <a:off x="6913200" y="4777433"/>
            <a:ext cx="1277600" cy="859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343" name="Google Shape;343;p41"/>
          <p:cNvSpPr txBox="1">
            <a:spLocks noGrp="1"/>
          </p:cNvSpPr>
          <p:nvPr>
            <p:ph type="title"/>
          </p:nvPr>
        </p:nvSpPr>
        <p:spPr>
          <a:xfrm>
            <a:off x="73667" y="379633"/>
            <a:ext cx="11780400" cy="763600"/>
          </a:xfrm>
          <a:prstGeom prst="rect">
            <a:avLst/>
          </a:prstGeom>
        </p:spPr>
        <p:txBody>
          <a:bodyPr spcFirstLastPara="1" vert="horz" wrap="square" lIns="121900" tIns="121900" rIns="121900" bIns="121900" rtlCol="0" anchor="t" anchorCtr="0">
            <a:normAutofit fontScale="90000"/>
          </a:bodyPr>
          <a:lstStyle/>
          <a:p>
            <a:r>
              <a:rPr lang="en"/>
              <a:t>Contribution 3: How to train to balance BPR and Likelihood</a:t>
            </a:r>
            <a:endParaRPr/>
          </a:p>
        </p:txBody>
      </p:sp>
      <p:grpSp>
        <p:nvGrpSpPr>
          <p:cNvPr id="344" name="Google Shape;344;p41"/>
          <p:cNvGrpSpPr/>
          <p:nvPr/>
        </p:nvGrpSpPr>
        <p:grpSpPr>
          <a:xfrm>
            <a:off x="73667" y="2291551"/>
            <a:ext cx="5812701" cy="1939983"/>
            <a:chOff x="55250" y="1286038"/>
            <a:chExt cx="4359526" cy="1454987"/>
          </a:xfrm>
        </p:grpSpPr>
        <p:pic>
          <p:nvPicPr>
            <p:cNvPr id="345" name="Google Shape;345;p41"/>
            <p:cNvPicPr preferRelativeResize="0"/>
            <p:nvPr/>
          </p:nvPicPr>
          <p:blipFill rotWithShape="1">
            <a:blip r:embed="rId4">
              <a:alphaModFix/>
            </a:blip>
            <a:srcRect r="79378" b="38088"/>
            <a:stretch/>
          </p:blipFill>
          <p:spPr>
            <a:xfrm>
              <a:off x="55250" y="1315575"/>
              <a:ext cx="1603175" cy="1015825"/>
            </a:xfrm>
            <a:prstGeom prst="rect">
              <a:avLst/>
            </a:prstGeom>
            <a:noFill/>
            <a:ln>
              <a:noFill/>
            </a:ln>
          </p:spPr>
        </p:pic>
        <p:pic>
          <p:nvPicPr>
            <p:cNvPr id="346" name="Google Shape;346;p41"/>
            <p:cNvPicPr preferRelativeResize="0"/>
            <p:nvPr/>
          </p:nvPicPr>
          <p:blipFill rotWithShape="1">
            <a:blip r:embed="rId4">
              <a:alphaModFix/>
            </a:blip>
            <a:srcRect l="7063" t="65095"/>
            <a:stretch/>
          </p:blipFill>
          <p:spPr>
            <a:xfrm>
              <a:off x="143725" y="2402475"/>
              <a:ext cx="4271050" cy="338550"/>
            </a:xfrm>
            <a:prstGeom prst="rect">
              <a:avLst/>
            </a:prstGeom>
            <a:noFill/>
            <a:ln>
              <a:noFill/>
            </a:ln>
          </p:spPr>
        </p:pic>
        <p:pic>
          <p:nvPicPr>
            <p:cNvPr id="347" name="Google Shape;347;p41"/>
            <p:cNvPicPr preferRelativeResize="0"/>
            <p:nvPr/>
          </p:nvPicPr>
          <p:blipFill rotWithShape="1">
            <a:blip r:embed="rId4">
              <a:alphaModFix/>
            </a:blip>
            <a:srcRect l="25926" r="39497" b="38088"/>
            <a:stretch/>
          </p:blipFill>
          <p:spPr>
            <a:xfrm>
              <a:off x="1726650" y="1286038"/>
              <a:ext cx="2688125" cy="1015825"/>
            </a:xfrm>
            <a:prstGeom prst="rect">
              <a:avLst/>
            </a:prstGeom>
            <a:noFill/>
            <a:ln>
              <a:noFill/>
            </a:ln>
          </p:spPr>
        </p:pic>
      </p:grpSp>
      <p:sp>
        <p:nvSpPr>
          <p:cNvPr id="348" name="Google Shape;348;p41"/>
          <p:cNvSpPr/>
          <p:nvPr/>
        </p:nvSpPr>
        <p:spPr>
          <a:xfrm>
            <a:off x="6396667" y="1662000"/>
            <a:ext cx="624800" cy="544800"/>
          </a:xfrm>
          <a:prstGeom prst="rect">
            <a:avLst/>
          </a:prstGeom>
          <a:solidFill>
            <a:srgbClr val="FA7C36"/>
          </a:solidFill>
          <a:ln w="9525" cap="flat" cmpd="sng">
            <a:solidFill>
              <a:srgbClr val="FA7C36"/>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pic>
        <p:nvPicPr>
          <p:cNvPr id="353" name="Google Shape;353;p42" title="SynthFrontierSquare.png"/>
          <p:cNvPicPr preferRelativeResize="0"/>
          <p:nvPr/>
        </p:nvPicPr>
        <p:blipFill>
          <a:blip r:embed="rId3">
            <a:alphaModFix/>
          </a:blip>
          <a:stretch>
            <a:fillRect/>
          </a:stretch>
        </p:blipFill>
        <p:spPr>
          <a:xfrm>
            <a:off x="5977367" y="1356967"/>
            <a:ext cx="5876599" cy="5018688"/>
          </a:xfrm>
          <a:prstGeom prst="rect">
            <a:avLst/>
          </a:prstGeom>
          <a:noFill/>
          <a:ln>
            <a:noFill/>
          </a:ln>
        </p:spPr>
      </p:pic>
      <p:sp>
        <p:nvSpPr>
          <p:cNvPr id="354" name="Google Shape;354;p42"/>
          <p:cNvSpPr/>
          <p:nvPr/>
        </p:nvSpPr>
        <p:spPr>
          <a:xfrm>
            <a:off x="8265733" y="1825067"/>
            <a:ext cx="3363600" cy="859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355" name="Google Shape;355;p42"/>
          <p:cNvSpPr/>
          <p:nvPr/>
        </p:nvSpPr>
        <p:spPr>
          <a:xfrm>
            <a:off x="6913200" y="5039167"/>
            <a:ext cx="1277600" cy="598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356" name="Google Shape;356;p42"/>
          <p:cNvSpPr txBox="1">
            <a:spLocks noGrp="1"/>
          </p:cNvSpPr>
          <p:nvPr>
            <p:ph type="title"/>
          </p:nvPr>
        </p:nvSpPr>
        <p:spPr>
          <a:xfrm>
            <a:off x="73667" y="379633"/>
            <a:ext cx="11780400" cy="763600"/>
          </a:xfrm>
          <a:prstGeom prst="rect">
            <a:avLst/>
          </a:prstGeom>
        </p:spPr>
        <p:txBody>
          <a:bodyPr spcFirstLastPara="1" vert="horz" wrap="square" lIns="121900" tIns="121900" rIns="121900" bIns="121900" rtlCol="0" anchor="t" anchorCtr="0">
            <a:normAutofit fontScale="90000"/>
          </a:bodyPr>
          <a:lstStyle/>
          <a:p>
            <a:r>
              <a:rPr lang="en"/>
              <a:t>Contribution 3: How to train to balance BPR and Likelihood</a:t>
            </a:r>
            <a:endParaRPr/>
          </a:p>
        </p:txBody>
      </p:sp>
      <p:grpSp>
        <p:nvGrpSpPr>
          <p:cNvPr id="357" name="Google Shape;357;p42"/>
          <p:cNvGrpSpPr/>
          <p:nvPr/>
        </p:nvGrpSpPr>
        <p:grpSpPr>
          <a:xfrm>
            <a:off x="73667" y="2291551"/>
            <a:ext cx="5812701" cy="1939983"/>
            <a:chOff x="55250" y="1286038"/>
            <a:chExt cx="4359526" cy="1454987"/>
          </a:xfrm>
        </p:grpSpPr>
        <p:pic>
          <p:nvPicPr>
            <p:cNvPr id="358" name="Google Shape;358;p42"/>
            <p:cNvPicPr preferRelativeResize="0"/>
            <p:nvPr/>
          </p:nvPicPr>
          <p:blipFill rotWithShape="1">
            <a:blip r:embed="rId4">
              <a:alphaModFix/>
            </a:blip>
            <a:srcRect r="79378" b="38088"/>
            <a:stretch/>
          </p:blipFill>
          <p:spPr>
            <a:xfrm>
              <a:off x="55250" y="1315575"/>
              <a:ext cx="1603175" cy="1015825"/>
            </a:xfrm>
            <a:prstGeom prst="rect">
              <a:avLst/>
            </a:prstGeom>
            <a:noFill/>
            <a:ln>
              <a:noFill/>
            </a:ln>
          </p:spPr>
        </p:pic>
        <p:pic>
          <p:nvPicPr>
            <p:cNvPr id="359" name="Google Shape;359;p42"/>
            <p:cNvPicPr preferRelativeResize="0"/>
            <p:nvPr/>
          </p:nvPicPr>
          <p:blipFill rotWithShape="1">
            <a:blip r:embed="rId4">
              <a:alphaModFix/>
            </a:blip>
            <a:srcRect l="7063" t="65095"/>
            <a:stretch/>
          </p:blipFill>
          <p:spPr>
            <a:xfrm>
              <a:off x="143725" y="2402475"/>
              <a:ext cx="4271050" cy="338550"/>
            </a:xfrm>
            <a:prstGeom prst="rect">
              <a:avLst/>
            </a:prstGeom>
            <a:noFill/>
            <a:ln>
              <a:noFill/>
            </a:ln>
          </p:spPr>
        </p:pic>
        <p:pic>
          <p:nvPicPr>
            <p:cNvPr id="360" name="Google Shape;360;p42"/>
            <p:cNvPicPr preferRelativeResize="0"/>
            <p:nvPr/>
          </p:nvPicPr>
          <p:blipFill rotWithShape="1">
            <a:blip r:embed="rId4">
              <a:alphaModFix/>
            </a:blip>
            <a:srcRect l="25926" r="39497" b="38088"/>
            <a:stretch/>
          </p:blipFill>
          <p:spPr>
            <a:xfrm>
              <a:off x="1726650" y="1286038"/>
              <a:ext cx="2688125" cy="1015825"/>
            </a:xfrm>
            <a:prstGeom prst="rect">
              <a:avLst/>
            </a:prstGeom>
            <a:noFill/>
            <a:ln>
              <a:noFill/>
            </a:ln>
          </p:spPr>
        </p:pic>
      </p:grpSp>
      <p:sp>
        <p:nvSpPr>
          <p:cNvPr id="361" name="Google Shape;361;p42"/>
          <p:cNvSpPr/>
          <p:nvPr/>
        </p:nvSpPr>
        <p:spPr>
          <a:xfrm>
            <a:off x="7726633" y="1746767"/>
            <a:ext cx="624800" cy="544800"/>
          </a:xfrm>
          <a:prstGeom prst="rect">
            <a:avLst/>
          </a:prstGeom>
          <a:solidFill>
            <a:srgbClr val="F8703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pic>
        <p:nvPicPr>
          <p:cNvPr id="366" name="Google Shape;366;p43" title="SynthFrontierSquare.png"/>
          <p:cNvPicPr preferRelativeResize="0"/>
          <p:nvPr/>
        </p:nvPicPr>
        <p:blipFill>
          <a:blip r:embed="rId3">
            <a:alphaModFix/>
          </a:blip>
          <a:stretch>
            <a:fillRect/>
          </a:stretch>
        </p:blipFill>
        <p:spPr>
          <a:xfrm>
            <a:off x="5977367" y="1356967"/>
            <a:ext cx="5876599" cy="5018688"/>
          </a:xfrm>
          <a:prstGeom prst="rect">
            <a:avLst/>
          </a:prstGeom>
          <a:noFill/>
          <a:ln>
            <a:noFill/>
          </a:ln>
        </p:spPr>
      </p:pic>
      <p:sp>
        <p:nvSpPr>
          <p:cNvPr id="367" name="Google Shape;367;p43"/>
          <p:cNvSpPr/>
          <p:nvPr/>
        </p:nvSpPr>
        <p:spPr>
          <a:xfrm>
            <a:off x="10381000" y="1825067"/>
            <a:ext cx="1451600" cy="859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368" name="Google Shape;368;p43"/>
          <p:cNvSpPr/>
          <p:nvPr/>
        </p:nvSpPr>
        <p:spPr>
          <a:xfrm>
            <a:off x="6913200" y="5234400"/>
            <a:ext cx="1277600" cy="402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369" name="Google Shape;369;p43"/>
          <p:cNvSpPr txBox="1">
            <a:spLocks noGrp="1"/>
          </p:cNvSpPr>
          <p:nvPr>
            <p:ph type="title"/>
          </p:nvPr>
        </p:nvSpPr>
        <p:spPr>
          <a:xfrm>
            <a:off x="73667" y="379633"/>
            <a:ext cx="11780400" cy="763600"/>
          </a:xfrm>
          <a:prstGeom prst="rect">
            <a:avLst/>
          </a:prstGeom>
        </p:spPr>
        <p:txBody>
          <a:bodyPr spcFirstLastPara="1" vert="horz" wrap="square" lIns="121900" tIns="121900" rIns="121900" bIns="121900" rtlCol="0" anchor="t" anchorCtr="0">
            <a:normAutofit fontScale="90000"/>
          </a:bodyPr>
          <a:lstStyle/>
          <a:p>
            <a:r>
              <a:rPr lang="en"/>
              <a:t>Contribution 3: How to train to balance BPR and Likelihood</a:t>
            </a:r>
            <a:endParaRPr/>
          </a:p>
        </p:txBody>
      </p:sp>
      <p:grpSp>
        <p:nvGrpSpPr>
          <p:cNvPr id="370" name="Google Shape;370;p43"/>
          <p:cNvGrpSpPr/>
          <p:nvPr/>
        </p:nvGrpSpPr>
        <p:grpSpPr>
          <a:xfrm>
            <a:off x="73667" y="2291551"/>
            <a:ext cx="5812701" cy="1939983"/>
            <a:chOff x="55250" y="1286038"/>
            <a:chExt cx="4359526" cy="1454987"/>
          </a:xfrm>
        </p:grpSpPr>
        <p:pic>
          <p:nvPicPr>
            <p:cNvPr id="371" name="Google Shape;371;p43"/>
            <p:cNvPicPr preferRelativeResize="0"/>
            <p:nvPr/>
          </p:nvPicPr>
          <p:blipFill rotWithShape="1">
            <a:blip r:embed="rId4">
              <a:alphaModFix/>
            </a:blip>
            <a:srcRect r="79378" b="38088"/>
            <a:stretch/>
          </p:blipFill>
          <p:spPr>
            <a:xfrm>
              <a:off x="55250" y="1315575"/>
              <a:ext cx="1603175" cy="1015825"/>
            </a:xfrm>
            <a:prstGeom prst="rect">
              <a:avLst/>
            </a:prstGeom>
            <a:noFill/>
            <a:ln>
              <a:noFill/>
            </a:ln>
          </p:spPr>
        </p:pic>
        <p:pic>
          <p:nvPicPr>
            <p:cNvPr id="372" name="Google Shape;372;p43"/>
            <p:cNvPicPr preferRelativeResize="0"/>
            <p:nvPr/>
          </p:nvPicPr>
          <p:blipFill rotWithShape="1">
            <a:blip r:embed="rId4">
              <a:alphaModFix/>
            </a:blip>
            <a:srcRect l="7063" t="65095"/>
            <a:stretch/>
          </p:blipFill>
          <p:spPr>
            <a:xfrm>
              <a:off x="143725" y="2402475"/>
              <a:ext cx="4271050" cy="338550"/>
            </a:xfrm>
            <a:prstGeom prst="rect">
              <a:avLst/>
            </a:prstGeom>
            <a:noFill/>
            <a:ln>
              <a:noFill/>
            </a:ln>
          </p:spPr>
        </p:pic>
        <p:pic>
          <p:nvPicPr>
            <p:cNvPr id="373" name="Google Shape;373;p43"/>
            <p:cNvPicPr preferRelativeResize="0"/>
            <p:nvPr/>
          </p:nvPicPr>
          <p:blipFill rotWithShape="1">
            <a:blip r:embed="rId4">
              <a:alphaModFix/>
            </a:blip>
            <a:srcRect l="25926" r="39497" b="38088"/>
            <a:stretch/>
          </p:blipFill>
          <p:spPr>
            <a:xfrm>
              <a:off x="1726650" y="1286038"/>
              <a:ext cx="2688125" cy="1015825"/>
            </a:xfrm>
            <a:prstGeom prst="rect">
              <a:avLst/>
            </a:prstGeom>
            <a:noFill/>
            <a:ln>
              <a:noFill/>
            </a:ln>
          </p:spPr>
        </p:pic>
      </p:grpSp>
      <p:sp>
        <p:nvSpPr>
          <p:cNvPr id="374" name="Google Shape;374;p43"/>
          <p:cNvSpPr/>
          <p:nvPr/>
        </p:nvSpPr>
        <p:spPr>
          <a:xfrm>
            <a:off x="9905800" y="1825067"/>
            <a:ext cx="624800" cy="544800"/>
          </a:xfrm>
          <a:prstGeom prst="rect">
            <a:avLst/>
          </a:prstGeom>
          <a:solidFill>
            <a:srgbClr val="F6632E"/>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pic>
        <p:nvPicPr>
          <p:cNvPr id="379" name="Google Shape;379;p44" title="SynthFrontierSquare.png"/>
          <p:cNvPicPr preferRelativeResize="0"/>
          <p:nvPr/>
        </p:nvPicPr>
        <p:blipFill>
          <a:blip r:embed="rId3">
            <a:alphaModFix/>
          </a:blip>
          <a:stretch>
            <a:fillRect/>
          </a:stretch>
        </p:blipFill>
        <p:spPr>
          <a:xfrm>
            <a:off x="5977367" y="1356967"/>
            <a:ext cx="5876599" cy="5018688"/>
          </a:xfrm>
          <a:prstGeom prst="rect">
            <a:avLst/>
          </a:prstGeom>
          <a:noFill/>
          <a:ln>
            <a:noFill/>
          </a:ln>
        </p:spPr>
      </p:pic>
      <p:sp>
        <p:nvSpPr>
          <p:cNvPr id="380" name="Google Shape;380;p44"/>
          <p:cNvSpPr/>
          <p:nvPr/>
        </p:nvSpPr>
        <p:spPr>
          <a:xfrm>
            <a:off x="10963233" y="1825067"/>
            <a:ext cx="869200" cy="859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381" name="Google Shape;381;p44"/>
          <p:cNvSpPr/>
          <p:nvPr/>
        </p:nvSpPr>
        <p:spPr>
          <a:xfrm>
            <a:off x="6913200" y="5432767"/>
            <a:ext cx="1277600" cy="204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382" name="Google Shape;382;p44"/>
          <p:cNvSpPr txBox="1">
            <a:spLocks noGrp="1"/>
          </p:cNvSpPr>
          <p:nvPr>
            <p:ph type="title"/>
          </p:nvPr>
        </p:nvSpPr>
        <p:spPr>
          <a:xfrm>
            <a:off x="73667" y="379633"/>
            <a:ext cx="11780400" cy="763600"/>
          </a:xfrm>
          <a:prstGeom prst="rect">
            <a:avLst/>
          </a:prstGeom>
        </p:spPr>
        <p:txBody>
          <a:bodyPr spcFirstLastPara="1" vert="horz" wrap="square" lIns="121900" tIns="121900" rIns="121900" bIns="121900" rtlCol="0" anchor="t" anchorCtr="0">
            <a:normAutofit fontScale="90000"/>
          </a:bodyPr>
          <a:lstStyle/>
          <a:p>
            <a:r>
              <a:rPr lang="en"/>
              <a:t>Contribution 3: How to train to balance BPR and Likelihood</a:t>
            </a:r>
            <a:endParaRPr/>
          </a:p>
        </p:txBody>
      </p:sp>
      <p:grpSp>
        <p:nvGrpSpPr>
          <p:cNvPr id="383" name="Google Shape;383;p44"/>
          <p:cNvGrpSpPr/>
          <p:nvPr/>
        </p:nvGrpSpPr>
        <p:grpSpPr>
          <a:xfrm>
            <a:off x="73667" y="2291551"/>
            <a:ext cx="5812701" cy="1939983"/>
            <a:chOff x="55250" y="1286038"/>
            <a:chExt cx="4359526" cy="1454987"/>
          </a:xfrm>
        </p:grpSpPr>
        <p:pic>
          <p:nvPicPr>
            <p:cNvPr id="384" name="Google Shape;384;p44"/>
            <p:cNvPicPr preferRelativeResize="0"/>
            <p:nvPr/>
          </p:nvPicPr>
          <p:blipFill rotWithShape="1">
            <a:blip r:embed="rId4">
              <a:alphaModFix/>
            </a:blip>
            <a:srcRect r="79378" b="38088"/>
            <a:stretch/>
          </p:blipFill>
          <p:spPr>
            <a:xfrm>
              <a:off x="55250" y="1315575"/>
              <a:ext cx="1603175" cy="1015825"/>
            </a:xfrm>
            <a:prstGeom prst="rect">
              <a:avLst/>
            </a:prstGeom>
            <a:noFill/>
            <a:ln>
              <a:noFill/>
            </a:ln>
          </p:spPr>
        </p:pic>
        <p:pic>
          <p:nvPicPr>
            <p:cNvPr id="385" name="Google Shape;385;p44"/>
            <p:cNvPicPr preferRelativeResize="0"/>
            <p:nvPr/>
          </p:nvPicPr>
          <p:blipFill rotWithShape="1">
            <a:blip r:embed="rId4">
              <a:alphaModFix/>
            </a:blip>
            <a:srcRect l="7063" t="65095"/>
            <a:stretch/>
          </p:blipFill>
          <p:spPr>
            <a:xfrm>
              <a:off x="143725" y="2402475"/>
              <a:ext cx="4271050" cy="338550"/>
            </a:xfrm>
            <a:prstGeom prst="rect">
              <a:avLst/>
            </a:prstGeom>
            <a:noFill/>
            <a:ln>
              <a:noFill/>
            </a:ln>
          </p:spPr>
        </p:pic>
        <p:pic>
          <p:nvPicPr>
            <p:cNvPr id="386" name="Google Shape;386;p44"/>
            <p:cNvPicPr preferRelativeResize="0"/>
            <p:nvPr/>
          </p:nvPicPr>
          <p:blipFill rotWithShape="1">
            <a:blip r:embed="rId4">
              <a:alphaModFix/>
            </a:blip>
            <a:srcRect l="25926" r="39497" b="38088"/>
            <a:stretch/>
          </p:blipFill>
          <p:spPr>
            <a:xfrm>
              <a:off x="1726650" y="1286038"/>
              <a:ext cx="2688125" cy="1015825"/>
            </a:xfrm>
            <a:prstGeom prst="rect">
              <a:avLst/>
            </a:prstGeom>
            <a:noFill/>
            <a:ln>
              <a:noFill/>
            </a:ln>
          </p:spPr>
        </p:pic>
      </p:grpSp>
      <p:sp>
        <p:nvSpPr>
          <p:cNvPr id="387" name="Google Shape;387;p44"/>
          <p:cNvSpPr/>
          <p:nvPr/>
        </p:nvSpPr>
        <p:spPr>
          <a:xfrm>
            <a:off x="10402533" y="1982467"/>
            <a:ext cx="624800" cy="544800"/>
          </a:xfrm>
          <a:prstGeom prst="rect">
            <a:avLst/>
          </a:prstGeom>
          <a:solidFill>
            <a:srgbClr val="F4572A"/>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pic>
        <p:nvPicPr>
          <p:cNvPr id="392" name="Google Shape;392;p45" title="SynthFrontierSquare.png"/>
          <p:cNvPicPr preferRelativeResize="0"/>
          <p:nvPr/>
        </p:nvPicPr>
        <p:blipFill>
          <a:blip r:embed="rId3">
            <a:alphaModFix/>
          </a:blip>
          <a:stretch>
            <a:fillRect/>
          </a:stretch>
        </p:blipFill>
        <p:spPr>
          <a:xfrm>
            <a:off x="5977367" y="1356967"/>
            <a:ext cx="5876599" cy="5018688"/>
          </a:xfrm>
          <a:prstGeom prst="rect">
            <a:avLst/>
          </a:prstGeom>
          <a:noFill/>
          <a:ln>
            <a:noFill/>
          </a:ln>
        </p:spPr>
      </p:pic>
      <p:sp>
        <p:nvSpPr>
          <p:cNvPr id="393" name="Google Shape;393;p45"/>
          <p:cNvSpPr txBox="1">
            <a:spLocks noGrp="1"/>
          </p:cNvSpPr>
          <p:nvPr>
            <p:ph type="title"/>
          </p:nvPr>
        </p:nvSpPr>
        <p:spPr>
          <a:xfrm>
            <a:off x="73667" y="379633"/>
            <a:ext cx="11780400" cy="763600"/>
          </a:xfrm>
          <a:prstGeom prst="rect">
            <a:avLst/>
          </a:prstGeom>
        </p:spPr>
        <p:txBody>
          <a:bodyPr spcFirstLastPara="1" vert="horz" wrap="square" lIns="121900" tIns="121900" rIns="121900" bIns="121900" rtlCol="0" anchor="t" anchorCtr="0">
            <a:normAutofit fontScale="90000"/>
          </a:bodyPr>
          <a:lstStyle/>
          <a:p>
            <a:r>
              <a:rPr lang="en"/>
              <a:t>Contribution 3: How to train to balance BPR and Likelihood</a:t>
            </a:r>
            <a:endParaRPr/>
          </a:p>
        </p:txBody>
      </p:sp>
      <p:grpSp>
        <p:nvGrpSpPr>
          <p:cNvPr id="394" name="Google Shape;394;p45"/>
          <p:cNvGrpSpPr/>
          <p:nvPr/>
        </p:nvGrpSpPr>
        <p:grpSpPr>
          <a:xfrm>
            <a:off x="73667" y="2291551"/>
            <a:ext cx="5812701" cy="1939983"/>
            <a:chOff x="55250" y="1286038"/>
            <a:chExt cx="4359526" cy="1454987"/>
          </a:xfrm>
        </p:grpSpPr>
        <p:pic>
          <p:nvPicPr>
            <p:cNvPr id="395" name="Google Shape;395;p45"/>
            <p:cNvPicPr preferRelativeResize="0"/>
            <p:nvPr/>
          </p:nvPicPr>
          <p:blipFill rotWithShape="1">
            <a:blip r:embed="rId4">
              <a:alphaModFix/>
            </a:blip>
            <a:srcRect r="79378" b="38088"/>
            <a:stretch/>
          </p:blipFill>
          <p:spPr>
            <a:xfrm>
              <a:off x="55250" y="1315575"/>
              <a:ext cx="1603175" cy="1015825"/>
            </a:xfrm>
            <a:prstGeom prst="rect">
              <a:avLst/>
            </a:prstGeom>
            <a:noFill/>
            <a:ln>
              <a:noFill/>
            </a:ln>
          </p:spPr>
        </p:pic>
        <p:pic>
          <p:nvPicPr>
            <p:cNvPr id="396" name="Google Shape;396;p45"/>
            <p:cNvPicPr preferRelativeResize="0"/>
            <p:nvPr/>
          </p:nvPicPr>
          <p:blipFill rotWithShape="1">
            <a:blip r:embed="rId4">
              <a:alphaModFix/>
            </a:blip>
            <a:srcRect l="7063" t="65095"/>
            <a:stretch/>
          </p:blipFill>
          <p:spPr>
            <a:xfrm>
              <a:off x="143725" y="2402475"/>
              <a:ext cx="4271050" cy="338550"/>
            </a:xfrm>
            <a:prstGeom prst="rect">
              <a:avLst/>
            </a:prstGeom>
            <a:noFill/>
            <a:ln>
              <a:noFill/>
            </a:ln>
          </p:spPr>
        </p:pic>
        <p:pic>
          <p:nvPicPr>
            <p:cNvPr id="397" name="Google Shape;397;p45"/>
            <p:cNvPicPr preferRelativeResize="0"/>
            <p:nvPr/>
          </p:nvPicPr>
          <p:blipFill rotWithShape="1">
            <a:blip r:embed="rId4">
              <a:alphaModFix/>
            </a:blip>
            <a:srcRect l="25926" r="39497" b="38088"/>
            <a:stretch/>
          </p:blipFill>
          <p:spPr>
            <a:xfrm>
              <a:off x="1726650" y="1286038"/>
              <a:ext cx="2688125" cy="1015825"/>
            </a:xfrm>
            <a:prstGeom prst="rect">
              <a:avLst/>
            </a:prstGeom>
            <a:noFill/>
            <a:ln>
              <a:noFill/>
            </a:ln>
          </p:spPr>
        </p:pic>
      </p:grpSp>
      <p:sp>
        <p:nvSpPr>
          <p:cNvPr id="398" name="Google Shape;398;p45"/>
          <p:cNvSpPr/>
          <p:nvPr/>
        </p:nvSpPr>
        <p:spPr>
          <a:xfrm>
            <a:off x="11229167" y="2046567"/>
            <a:ext cx="624800" cy="544800"/>
          </a:xfrm>
          <a:prstGeom prst="rect">
            <a:avLst/>
          </a:prstGeom>
          <a:solidFill>
            <a:srgbClr val="F24B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pic>
        <p:nvPicPr>
          <p:cNvPr id="403" name="Google Shape;403;p46"/>
          <p:cNvPicPr preferRelativeResize="0"/>
          <p:nvPr/>
        </p:nvPicPr>
        <p:blipFill>
          <a:blip r:embed="rId3">
            <a:alphaModFix/>
          </a:blip>
          <a:stretch>
            <a:fillRect/>
          </a:stretch>
        </p:blipFill>
        <p:spPr>
          <a:xfrm>
            <a:off x="2051652" y="203201"/>
            <a:ext cx="7969625" cy="6451601"/>
          </a:xfrm>
          <a:prstGeom prst="rect">
            <a:avLst/>
          </a:prstGeom>
          <a:noFill/>
          <a:ln>
            <a:noFill/>
          </a:ln>
        </p:spPr>
      </p:pic>
      <p:cxnSp>
        <p:nvCxnSpPr>
          <p:cNvPr id="404" name="Google Shape;404;p46"/>
          <p:cNvCxnSpPr/>
          <p:nvPr/>
        </p:nvCxnSpPr>
        <p:spPr>
          <a:xfrm>
            <a:off x="6096000" y="769100"/>
            <a:ext cx="2483600" cy="0"/>
          </a:xfrm>
          <a:prstGeom prst="straightConnector1">
            <a:avLst/>
          </a:prstGeom>
          <a:noFill/>
          <a:ln w="28575" cap="flat" cmpd="sng">
            <a:solidFill>
              <a:schemeClr val="dk2"/>
            </a:solidFill>
            <a:prstDash val="solid"/>
            <a:round/>
            <a:headEnd type="triangle" w="med" len="med"/>
            <a:tailEnd type="triangle" w="med" len="med"/>
          </a:ln>
        </p:spPr>
      </p:cxnSp>
      <p:sp>
        <p:nvSpPr>
          <p:cNvPr id="405" name="Google Shape;405;p46"/>
          <p:cNvSpPr txBox="1"/>
          <p:nvPr/>
        </p:nvSpPr>
        <p:spPr>
          <a:xfrm>
            <a:off x="5576100" y="993433"/>
            <a:ext cx="5608400" cy="615513"/>
          </a:xfrm>
          <a:prstGeom prst="rect">
            <a:avLst/>
          </a:prstGeom>
          <a:noFill/>
          <a:ln>
            <a:noFill/>
          </a:ln>
        </p:spPr>
        <p:txBody>
          <a:bodyPr spcFirstLastPara="1" wrap="square" lIns="121900" tIns="121900" rIns="121900" bIns="121900" anchor="t" anchorCtr="0">
            <a:spAutoFit/>
          </a:bodyPr>
          <a:lstStyle/>
          <a:p>
            <a:r>
              <a:rPr lang="en" sz="2400">
                <a:solidFill>
                  <a:schemeClr val="dk2"/>
                </a:solidFill>
              </a:rPr>
              <a:t>~70 more overdoses reached</a:t>
            </a:r>
            <a:endParaRPr sz="24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pic>
        <p:nvPicPr>
          <p:cNvPr id="410" name="Google Shape;410;p47"/>
          <p:cNvPicPr preferRelativeResize="0"/>
          <p:nvPr/>
        </p:nvPicPr>
        <p:blipFill>
          <a:blip r:embed="rId3">
            <a:alphaModFix/>
          </a:blip>
          <a:stretch>
            <a:fillRect/>
          </a:stretch>
        </p:blipFill>
        <p:spPr>
          <a:xfrm>
            <a:off x="294769" y="593367"/>
            <a:ext cx="6180401" cy="5151533"/>
          </a:xfrm>
          <a:prstGeom prst="rect">
            <a:avLst/>
          </a:prstGeom>
          <a:noFill/>
          <a:ln>
            <a:noFill/>
          </a:ln>
        </p:spPr>
      </p:pic>
      <p:pic>
        <p:nvPicPr>
          <p:cNvPr id="411" name="Google Shape;411;p47"/>
          <p:cNvPicPr preferRelativeResize="0"/>
          <p:nvPr/>
        </p:nvPicPr>
        <p:blipFill>
          <a:blip r:embed="rId4">
            <a:alphaModFix/>
          </a:blip>
          <a:stretch>
            <a:fillRect/>
          </a:stretch>
        </p:blipFill>
        <p:spPr>
          <a:xfrm>
            <a:off x="6702137" y="946900"/>
            <a:ext cx="5310431" cy="444446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422</Words>
  <Application>Microsoft Office PowerPoint</Application>
  <PresentationFormat>Widescreen</PresentationFormat>
  <Paragraphs>17</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Roboto</vt:lpstr>
      <vt:lpstr>Office Theme</vt:lpstr>
      <vt:lpstr>Contribution 3: How to train to balance BPR and Likelihood</vt:lpstr>
      <vt:lpstr>Contribution 3: How to train to balance BPR and Likelihood</vt:lpstr>
      <vt:lpstr>Contribution 3: How to train to balance BPR and Likelihood</vt:lpstr>
      <vt:lpstr>Contribution 3: How to train to balance BPR and Likelihood</vt:lpstr>
      <vt:lpstr>Contribution 3: How to train to balance BPR and Likelihood</vt:lpstr>
      <vt:lpstr>Contribution 3: How to train to balance BPR and Likelihood</vt:lpstr>
      <vt:lpstr>Contribution 3: How to train to balance BPR and Likelihood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Heuton, Kyle R</dc:creator>
  <cp:lastModifiedBy>Heuton, Kyle R</cp:lastModifiedBy>
  <cp:revision>1</cp:revision>
  <dcterms:created xsi:type="dcterms:W3CDTF">2026-03-31T17:18:32Z</dcterms:created>
  <dcterms:modified xsi:type="dcterms:W3CDTF">2026-03-31T17:18:52Z</dcterms:modified>
</cp:coreProperties>
</file>